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amiljen Grotesk Bold" panose="020B0604020202020204" charset="0"/>
      <p:regular r:id="rId17"/>
    </p:embeddedFont>
    <p:embeddedFont>
      <p:font typeface="Onest" panose="020B0604020202020204" charset="0"/>
      <p:regular r:id="rId18"/>
    </p:embeddedFont>
    <p:embeddedFont>
      <p:font typeface="Onest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75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6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711182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DESIGN &amp; ANALYSIS OF ALGORITHMS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40523"/>
            <a:ext cx="6502237" cy="139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DIJKSTRA’S</a:t>
            </a:r>
            <a:endParaRPr lang="en-US" sz="56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ALGORITHM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09585" y="2545953"/>
            <a:ext cx="234547" cy="31651"/>
          </a:xfrm>
          <a:prstGeom prst="roundRect">
            <a:avLst>
              <a:gd name="adj" fmla="val 49998"/>
            </a:avLst>
          </a:prstGeom>
          <a:solidFill>
            <a:srgbClr val="BFEB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04716"/>
            <a:ext cx="7111822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Single-Source Shortest Paths in Weighted Graphs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5600402"/>
            <a:ext cx="711182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Siddhi Timkhede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0077" y="6026194"/>
            <a:ext cx="711182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PRN 25070521236 · Section 'D' · Semester III</a:t>
            </a:r>
            <a:endParaRPr lang="en-US" sz="1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60200-8E05-2B27-FA11-AAE46F605CD4}"/>
              </a:ext>
            </a:extLst>
          </p:cNvPr>
          <p:cNvSpPr txBox="1"/>
          <p:nvPr/>
        </p:nvSpPr>
        <p:spPr>
          <a:xfrm>
            <a:off x="489285" y="6269450"/>
            <a:ext cx="2483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Made By Gamma AI Tool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374898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DIJKSTRA’S ALGORITHM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180"/>
            <a:ext cx="3139401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What is Dijkstra’s Algorithm?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861866"/>
            <a:ext cx="234547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23139"/>
            <a:ext cx="3139401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Definition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3973810"/>
            <a:ext cx="3139401" cy="196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Dijkstra’s algorithm is a greedy graph-traversal algorithm used to find the shortest path from a single source vertex to every other reachable vertex in a weighted graph, provided that all edge weights are non-negative.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264" y="0"/>
            <a:ext cx="7528431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9198" y="659711"/>
            <a:ext cx="6296562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Fundamental concepts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279198" y="1310382"/>
            <a:ext cx="6296562" cy="328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Graph: A collection of vertices (nodes) connected by edges.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Weight: A numerical cost assigned to an edge, such as distance, time, or price.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Shortest path: The path with the minimum total sum of edge weights between two vertices.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Greedy approach: The algorithm repeatedly selects the unvisited vertex with the smallest tentative distance and finalises its shortest distance.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Relaxation: The process of checking whether travelling through a particular vertex gives a shorter path to its neighbour.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DIJKSTRA’S ALGORITHM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180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Key Properties and Output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22041"/>
            <a:ext cx="234547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23517"/>
            <a:ext cx="12191695" cy="4434483"/>
          </a:xfrm>
          <a:prstGeom prst="roundRect">
            <a:avLst>
              <a:gd name="adj" fmla="val 2749"/>
            </a:avLst>
          </a:prstGeom>
          <a:solidFill>
            <a:srgbClr val="FBD0C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5935" y="3083228"/>
            <a:ext cx="109598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Key properties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5935" y="3733899"/>
            <a:ext cx="5327517" cy="14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Single-source shortest path: Calculates the shortest distances from one source to all reachable vertices.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Non-negative edge weights: The algorithm's correctness depends on all edge weights being zero or positive.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244" y="3733899"/>
            <a:ext cx="5327517" cy="14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Optimal substructure: A shortest path contains shortest paths between its intermediate vertices.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Efficient path calculation: It updates tentative distances rather than enumerating every possible route.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5935" y="5288260"/>
            <a:ext cx="109598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Output: The algorithm produces the shortest distance from the source to each reachable vertex. Predecessor information can also be stored to reconstruct the actual routes.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61"/>
            <a:ext cx="11582110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94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THE GREEDY LOOP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70221"/>
            <a:ext cx="10972526" cy="5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50" b="1" kern="100" spc="-98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How the Greedy Process Works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0" y="1670050"/>
            <a:ext cx="12191695" cy="5187950"/>
          </a:xfrm>
          <a:prstGeom prst="roundRect">
            <a:avLst>
              <a:gd name="adj" fmla="val 235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514600"/>
            <a:ext cx="79888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44529" y="2768798"/>
            <a:ext cx="100317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7" name="Text 5"/>
          <p:cNvSpPr/>
          <p:nvPr/>
        </p:nvSpPr>
        <p:spPr>
          <a:xfrm>
            <a:off x="665747" y="2896691"/>
            <a:ext cx="1182057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Initialisation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4529" y="3599954"/>
            <a:ext cx="1003275" cy="1897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Assign distance 0 to the source vertex and infinity (∞) to all other vertices.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219270" y="2514600"/>
            <a:ext cx="82905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19270" y="2768798"/>
            <a:ext cx="1003374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1" name="Text 9"/>
          <p:cNvSpPr/>
          <p:nvPr/>
        </p:nvSpPr>
        <p:spPr>
          <a:xfrm>
            <a:off x="3219270" y="2896691"/>
            <a:ext cx="100337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19270" y="3324324"/>
            <a:ext cx="1003374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Choose the unvisited vertex with the smallest tentative distance.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94111" y="2514600"/>
            <a:ext cx="84006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94111" y="2768798"/>
            <a:ext cx="1003374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5" name="Text 13"/>
          <p:cNvSpPr/>
          <p:nvPr/>
        </p:nvSpPr>
        <p:spPr>
          <a:xfrm>
            <a:off x="5594111" y="2896691"/>
            <a:ext cx="100337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Relaxation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94111" y="3324324"/>
            <a:ext cx="1003374" cy="2608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Examine each unvisited neighbour and calculate the distance through the selected vertex.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68951" y="2514600"/>
            <a:ext cx="84502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68951" y="2768798"/>
            <a:ext cx="1003374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9" name="Text 17"/>
          <p:cNvSpPr/>
          <p:nvPr/>
        </p:nvSpPr>
        <p:spPr>
          <a:xfrm>
            <a:off x="7968951" y="2896691"/>
            <a:ext cx="100337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Update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68951" y="3324324"/>
            <a:ext cx="1003374" cy="2845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If the newly calculated distance is smaller than the existing distance, replace it and record the predecessor.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343792" y="2514600"/>
            <a:ext cx="84135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343792" y="2768798"/>
            <a:ext cx="100317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0" y="2957017"/>
            <a:ext cx="127914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Finalisation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43792" y="3599954"/>
            <a:ext cx="1003275" cy="2608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Mark the selected vertex as visited. Repeat the process until all reachable vertices have been processed.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00"/>
            <a:ext cx="11582110" cy="1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94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THE GREEDY LOOP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70757"/>
            <a:ext cx="10972526" cy="51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50" b="1" kern="100" spc="-99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Pseudocode and the Relaxation Rule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609585" y="1533029"/>
            <a:ext cx="6400640" cy="5328444"/>
          </a:xfrm>
          <a:prstGeom prst="roundRect">
            <a:avLst>
              <a:gd name="adj" fmla="val 2288"/>
            </a:avLst>
          </a:prstGeom>
          <a:solidFill>
            <a:srgbClr val="E6EEFF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529" y="1973064"/>
            <a:ext cx="5930752" cy="4448373"/>
          </a:xfrm>
          <a:prstGeom prst="roundRect">
            <a:avLst>
              <a:gd name="adj" fmla="val 257"/>
            </a:avLst>
          </a:prstGeom>
          <a:solidFill>
            <a:srgbClr val="152060"/>
          </a:solidFill>
          <a:ln/>
        </p:spPr>
      </p:sp>
      <p:sp>
        <p:nvSpPr>
          <p:cNvPr id="6" name="Text 4"/>
          <p:cNvSpPr/>
          <p:nvPr/>
        </p:nvSpPr>
        <p:spPr>
          <a:xfrm>
            <a:off x="1063301" y="2155329"/>
            <a:ext cx="5493208" cy="408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vertex v: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dist[v] = ∞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predecessor[v] = NIL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dist[source] = 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an unvisited reachable vertex exists: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unvisited vertex with minimum dist[u]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 u as visited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edge (u, v) with weight w: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dist[u] + w &lt; dist[v]: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 = dist[u] + w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predecessor[v] = u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4918" y="1533029"/>
            <a:ext cx="4267192" cy="5328444"/>
          </a:xfrm>
          <a:prstGeom prst="roundRect">
            <a:avLst>
              <a:gd name="adj" fmla="val 285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9862" y="1769083"/>
            <a:ext cx="3797304" cy="3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relaxation rule: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862" y="2208014"/>
            <a:ext cx="3797304" cy="63380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9862" y="2945654"/>
            <a:ext cx="3797304" cy="1671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relaxation rule: If dist[u]+w(u,v)&lt;dist[v], then dist[v]=dist[u]+w(u,v). Here, dist[u] is the current best-known distance to vertex u, and w(u,v) is the weight of the edge connecting u and v. The algorithm updates a distance only when it discovers a cheaper route.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12640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100" spc="63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WORKED EXAMPLE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09585" y="769629"/>
            <a:ext cx="5516821" cy="68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650" b="1" kern="100" spc="-66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Worked Example: Shortest Paths from A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09585" y="1509316"/>
            <a:ext cx="5516821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Consider a weighted graph with five vertices, A, B, C, D and E. A is the source vertex. Use these weighted edges: A–B = 4, A–C = 1, C–B = 2, B–D = 1, C–D = 5, B–E = 7, D–E = 3.</a:t>
            </a:r>
            <a:endParaRPr lang="en-US" sz="11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distance from A to C is 1. The distance from A to B through C is 1+2=3, which is shorter than the direct edge of weight 4. The distance from A to D through B is 1+2+1=4. The distance from A to E through D is 1+2+1+3=7. Therefore, the shortest distance from A to E is 7, following the route A → C → B → D → 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5151011" cy="3763665"/>
          </a:xfrm>
          <a:prstGeom prst="roundRect">
            <a:avLst>
              <a:gd name="adj" fmla="val 3239"/>
            </a:avLst>
          </a:prstGeom>
          <a:solidFill>
            <a:srgbClr val="080E33"/>
          </a:solidFill>
          <a:ln w="6350">
            <a:solidFill>
              <a:srgbClr val="2B3A8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678065"/>
          <a:ext cx="10972526" cy="2240244"/>
        </p:xfrm>
        <a:graphic>
          <a:graphicData uri="http://schemas.openxmlformats.org/drawingml/2006/table">
            <a:tbl>
              <a:tblPr/>
              <a:tblGrid>
                <a:gridCol w="175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4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Vertex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Shortest distance from A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Shortest route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 → C → B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 → C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 → C → B → D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 → C → B → D → E</a:t>
                      </a:r>
                      <a:endParaRPr lang="en-US" sz="9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91438" marR="91438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8010424" y="751384"/>
            <a:ext cx="2440621" cy="1438672"/>
          </a:xfrm>
          <a:prstGeom prst="line">
            <a:avLst/>
          </a:prstGeom>
          <a:solidFill>
            <a:srgbClr val="7FA6F2"/>
          </a:solidFill>
          <a:ln w="25400">
            <a:solidFill>
              <a:srgbClr val="7FA6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49159" y="2190155"/>
            <a:ext cx="1001886" cy="950516"/>
          </a:xfrm>
          <a:prstGeom prst="line">
            <a:avLst/>
          </a:prstGeom>
          <a:solidFill>
            <a:srgbClr val="7FA6F2"/>
          </a:solidFill>
          <a:ln w="25400">
            <a:solidFill>
              <a:srgbClr val="7FA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10424" y="751384"/>
            <a:ext cx="2440621" cy="2389287"/>
          </a:xfrm>
          <a:prstGeom prst="line">
            <a:avLst/>
          </a:prstGeom>
          <a:solidFill>
            <a:srgbClr val="7FA6F2"/>
          </a:solidFill>
          <a:ln w="25400">
            <a:solidFill>
              <a:srgbClr val="7FA6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40655" y="481608"/>
            <a:ext cx="539439" cy="539452"/>
          </a:xfrm>
          <a:prstGeom prst="ellipse">
            <a:avLst/>
          </a:prstGeom>
          <a:solidFill>
            <a:srgbClr val="7FA6F2"/>
          </a:solidFill>
          <a:ln/>
        </p:spPr>
      </p:sp>
      <p:sp>
        <p:nvSpPr>
          <p:cNvPr id="11" name="Shape 8"/>
          <p:cNvSpPr/>
          <p:nvPr/>
        </p:nvSpPr>
        <p:spPr>
          <a:xfrm>
            <a:off x="9179390" y="1920379"/>
            <a:ext cx="539439" cy="539452"/>
          </a:xfrm>
          <a:prstGeom prst="ellipse">
            <a:avLst/>
          </a:prstGeom>
          <a:solidFill>
            <a:srgbClr val="7FA6F2"/>
          </a:solidFill>
          <a:ln/>
        </p:spPr>
      </p:sp>
      <p:sp>
        <p:nvSpPr>
          <p:cNvPr id="12" name="Shape 9"/>
          <p:cNvSpPr/>
          <p:nvPr/>
        </p:nvSpPr>
        <p:spPr>
          <a:xfrm>
            <a:off x="10181375" y="1920379"/>
            <a:ext cx="539439" cy="539452"/>
          </a:xfrm>
          <a:prstGeom prst="ellipse">
            <a:avLst/>
          </a:prstGeom>
          <a:solidFill>
            <a:srgbClr val="7FA6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740655" y="1920379"/>
            <a:ext cx="539439" cy="539452"/>
          </a:xfrm>
          <a:prstGeom prst="ellipse">
            <a:avLst/>
          </a:prstGeom>
          <a:solidFill>
            <a:srgbClr val="7FA6F2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81375" y="2870994"/>
            <a:ext cx="539439" cy="539452"/>
          </a:xfrm>
          <a:prstGeom prst="ellipse">
            <a:avLst/>
          </a:prstGeom>
          <a:solidFill>
            <a:srgbClr val="7FA6F2"/>
          </a:solidFill>
          <a:ln/>
        </p:spPr>
      </p:sp>
      <p:sp>
        <p:nvSpPr>
          <p:cNvPr id="15" name="Text 12"/>
          <p:cNvSpPr/>
          <p:nvPr/>
        </p:nvSpPr>
        <p:spPr>
          <a:xfrm>
            <a:off x="7570697" y="601648"/>
            <a:ext cx="879453" cy="134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7B8AE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009432" y="2040419"/>
            <a:ext cx="879453" cy="134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7B8AE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011418" y="2040419"/>
            <a:ext cx="879453" cy="134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7B8AE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70697" y="2040419"/>
            <a:ext cx="879453" cy="134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7B8AE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011418" y="2991034"/>
            <a:ext cx="879453" cy="134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7B8AE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543414" y="499848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490134" y="1296376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9095850" y="1232082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776672" y="2015712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8492119" y="2015712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0508888" y="2452473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7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9776672" y="3030620"/>
            <a:ext cx="879453" cy="92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5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7864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Step-by-Step Distance Updates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1433513"/>
            <a:ext cx="109725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table shows how tentative distances change as each vertex is processed. Infinity (∞) means that no route has been discovered yet.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00697"/>
          <a:ext cx="4622683" cy="3664227"/>
        </p:xfrm>
        <a:graphic>
          <a:graphicData uri="http://schemas.openxmlformats.org/drawingml/2006/table">
            <a:tbl>
              <a:tblPr/>
              <a:tblGrid>
                <a:gridCol w="1479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9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5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Vertex processed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Initialisation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6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 (complete)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36962" y="2172097"/>
            <a:ext cx="6045148" cy="4139406"/>
          </a:xfrm>
          <a:prstGeom prst="roundRect">
            <a:avLst>
              <a:gd name="adj" fmla="val 294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71906" y="2407047"/>
            <a:ext cx="5575260" cy="300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Process A: Distance to B = 4; distance to C = 1. Since C has the smallest tentative distance, process C next.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Process C: Distance to B through C = 1+2=3, replacing 4. Distance to D through C = 1+5=6.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Process B: Distance to D through B = 3+1=4, replacing 6. Distance to E through B = 3+7=10.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Process D: Distance to E through D = 4+3=7, replacing 10.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Process E: E is finalised with distance 7. All reachable vertices now have their shortest distances from 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71906" y="5515769"/>
            <a:ext cx="557526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final distance array, in the order A, B, C, D, E, is [0, 3, 1, 4, 7].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PRACTICAL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180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Efficiency and Complexity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2248793"/>
            <a:ext cx="4754840" cy="4609207"/>
          </a:xfrm>
          <a:prstGeom prst="roundRect">
            <a:avLst>
              <a:gd name="adj" fmla="val 264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2908503"/>
            <a:ext cx="3522971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Time and space complexity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5935" y="3999607"/>
            <a:ext cx="3522971" cy="206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Let V = number of vertices. Let E = number of edges.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Space complexity: O(V+E) for the graph represented using an adjacency list, plus distance, predecessor, and visited data. This is O(V+E) overall.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118" y="2858393"/>
          <a:ext cx="5912991" cy="2393493"/>
        </p:xfrm>
        <a:graphic>
          <a:graphicData uri="http://schemas.openxmlformats.org/drawingml/2006/table">
            <a:tbl>
              <a:tblPr/>
              <a:tblGrid>
                <a:gridCol w="201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Implementation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Time complexity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Typical use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Array or adjacency matrix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O(V²)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Small or dense graphs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B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Adjacency list + binary heap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O((V+E) log V)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Common choice, especially for sparse graphs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E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262"/>
            <a:ext cx="11582110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10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PRACTICAL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90963"/>
            <a:ext cx="10972526" cy="54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100" spc="-105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Applications, Limitations and Takeaway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0" y="2052241"/>
            <a:ext cx="5329303" cy="4805759"/>
          </a:xfrm>
          <a:prstGeom prst="roundRect">
            <a:avLst>
              <a:gd name="adj" fmla="val 253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2711460"/>
            <a:ext cx="4097433" cy="420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50" b="1" kern="100" spc="-8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Applications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15935" y="3320355"/>
            <a:ext cx="4097433" cy="3064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Navigation systems: Finding shortest routes between locations.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Computer networks: Finding minimum-cost paths for packet routing.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Robotics: Planning movement through weighted environments.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Logistics: Identifying lower-cost delivery and transportation routes.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Game development: Finding efficient paths for characters moving through game maps.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33996" y="2052241"/>
            <a:ext cx="6557699" cy="4805759"/>
          </a:xfrm>
          <a:prstGeom prst="roundRect">
            <a:avLst>
              <a:gd name="adj" fmla="val 253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9930" y="2711460"/>
            <a:ext cx="5325830" cy="420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50" b="1" kern="100" spc="-8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Limitations</a:t>
            </a:r>
            <a:endParaRPr lang="en-US" sz="3250" dirty="0"/>
          </a:p>
        </p:txBody>
      </p:sp>
      <p:sp>
        <p:nvSpPr>
          <p:cNvPr id="9" name="Text 7"/>
          <p:cNvSpPr/>
          <p:nvPr/>
        </p:nvSpPr>
        <p:spPr>
          <a:xfrm>
            <a:off x="6249930" y="3320355"/>
            <a:ext cx="5325830" cy="354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Negative edge weights: Dijkstra’s algorithm is not generally correct when negative-weight edges are present. Bellman–Ford is a suitable alternative for single-source shortest paths when negative weights are allowed and there is no reachable negative cycle affecting the result.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Single-source approach: It solves the problem from one source at a time. A different source generally requires another run.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Implementation matters: The choice of graph representation and priority queue affects performance.</a:t>
            </a:r>
            <a:endParaRPr lang="en-US" sz="1550" dirty="0"/>
          </a:p>
          <a:p>
            <a:pPr marL="314960" indent="-314960" algn="l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Unreachable vertices: Vertices that cannot be reached from the source retain distance ∞.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2653" y="701208"/>
            <a:ext cx="5689458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892653" y="1609725"/>
            <a:ext cx="234547" cy="31651"/>
          </a:xfrm>
          <a:prstGeom prst="roundRect">
            <a:avLst>
              <a:gd name="adj" fmla="val 49998"/>
            </a:avLst>
          </a:prstGeom>
          <a:solidFill>
            <a:srgbClr val="BFEBFF"/>
          </a:solidFill>
          <a:ln/>
        </p:spPr>
      </p:sp>
      <p:sp>
        <p:nvSpPr>
          <p:cNvPr id="4" name="Text 2"/>
          <p:cNvSpPr/>
          <p:nvPr/>
        </p:nvSpPr>
        <p:spPr>
          <a:xfrm>
            <a:off x="5892653" y="1868488"/>
            <a:ext cx="6299042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92653" y="5968008"/>
            <a:ext cx="62990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Siddhi Timkhede · Semester III · Section 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1239</Words>
  <Application>Microsoft Office PowerPoint</Application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Onest SemiBold</vt:lpstr>
      <vt:lpstr>Familjen Grotesk Bold</vt:lpstr>
      <vt:lpstr>Consolas</vt:lpstr>
      <vt:lpstr>Onest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Gaurav Timkhede</cp:lastModifiedBy>
  <cp:revision>3</cp:revision>
  <dcterms:created xsi:type="dcterms:W3CDTF">2026-10-18T14:09:28Z</dcterms:created>
  <dcterms:modified xsi:type="dcterms:W3CDTF">2026-10-20T05:11:14Z</dcterms:modified>
</cp:coreProperties>
</file>